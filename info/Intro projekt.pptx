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
  </p:notesMasterIdLst>
  <p:sldIdLst>
    <p:sldId id="256" r:id="rId2"/>
    <p:sldId id="297" r:id="rId3"/>
    <p:sldId id="296" r:id="rId4"/>
    <p:sldId id="299" r:id="rId5"/>
    <p:sldId id="300" r:id="rId6"/>
    <p:sldId id="301" r:id="rId7"/>
    <p:sldId id="298" r:id="rId8"/>
    <p:sldId id="260" r:id="rId9"/>
  </p:sldIdLst>
  <p:sldSz cx="12192000" cy="6858000"/>
  <p:notesSz cx="6800850" cy="9932988"/>
  <p:embeddedFontLst>
    <p:embeddedFont>
      <p:font typeface="Figtree" panose="020B0604020202020204" charset="0"/>
      <p:regular r:id="rId11"/>
      <p:bold r:id="rId12"/>
      <p:italic r:id="rId13"/>
      <p:boldItalic r:id="rId1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5EF841-15CA-4C09-9C74-94A50AFA2AD6}" v="20" dt="2026-03-20T13:48:17.913"/>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309" autoAdjust="0"/>
    <p:restoredTop sz="96327"/>
  </p:normalViewPr>
  <p:slideViewPr>
    <p:cSldViewPr snapToGrid="0">
      <p:cViewPr varScale="1">
        <p:scale>
          <a:sx n="71" d="100"/>
          <a:sy n="71" d="100"/>
        </p:scale>
        <p:origin x="5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ers Broström" userId="38061b4a-6548-4094-b1cc-1f5ac35c4bc6" providerId="ADAL" clId="{596EB967-57A3-426B-9791-25B69E97892B}"/>
    <pc:docChg chg="undo custSel delSld modSld">
      <pc:chgData name="Anders Broström" userId="38061b4a-6548-4094-b1cc-1f5ac35c4bc6" providerId="ADAL" clId="{596EB967-57A3-426B-9791-25B69E97892B}" dt="2026-03-20T13:49:43.596" v="1348" actId="14100"/>
      <pc:docMkLst>
        <pc:docMk/>
      </pc:docMkLst>
      <pc:sldChg chg="modSp mod">
        <pc:chgData name="Anders Broström" userId="38061b4a-6548-4094-b1cc-1f5ac35c4bc6" providerId="ADAL" clId="{596EB967-57A3-426B-9791-25B69E97892B}" dt="2026-03-20T10:16:23.877" v="10" actId="20577"/>
        <pc:sldMkLst>
          <pc:docMk/>
          <pc:sldMk cId="214614124" sldId="260"/>
        </pc:sldMkLst>
        <pc:spChg chg="mod">
          <ac:chgData name="Anders Broström" userId="38061b4a-6548-4094-b1cc-1f5ac35c4bc6" providerId="ADAL" clId="{596EB967-57A3-426B-9791-25B69E97892B}" dt="2026-03-20T10:16:23.877" v="10" actId="20577"/>
          <ac:spMkLst>
            <pc:docMk/>
            <pc:sldMk cId="214614124" sldId="260"/>
            <ac:spMk id="3" creationId="{00000000-0000-0000-0000-000000000000}"/>
          </ac:spMkLst>
        </pc:spChg>
      </pc:sldChg>
      <pc:sldChg chg="modSp del mod">
        <pc:chgData name="Anders Broström" userId="38061b4a-6548-4094-b1cc-1f5ac35c4bc6" providerId="ADAL" clId="{596EB967-57A3-426B-9791-25B69E97892B}" dt="2026-03-20T10:53:16.937" v="1100" actId="47"/>
        <pc:sldMkLst>
          <pc:docMk/>
          <pc:sldMk cId="3045293300" sldId="295"/>
        </pc:sldMkLst>
        <pc:spChg chg="mod">
          <ac:chgData name="Anders Broström" userId="38061b4a-6548-4094-b1cc-1f5ac35c4bc6" providerId="ADAL" clId="{596EB967-57A3-426B-9791-25B69E97892B}" dt="2026-03-20T10:16:38.164" v="26" actId="20577"/>
          <ac:spMkLst>
            <pc:docMk/>
            <pc:sldMk cId="3045293300" sldId="295"/>
            <ac:spMk id="10" creationId="{62670E87-116E-F1E7-8F3C-BB39A8F12688}"/>
          </ac:spMkLst>
        </pc:spChg>
        <pc:spChg chg="mod">
          <ac:chgData name="Anders Broström" userId="38061b4a-6548-4094-b1cc-1f5ac35c4bc6" providerId="ADAL" clId="{596EB967-57A3-426B-9791-25B69E97892B}" dt="2026-03-20T10:16:45.632" v="28" actId="20577"/>
          <ac:spMkLst>
            <pc:docMk/>
            <pc:sldMk cId="3045293300" sldId="295"/>
            <ac:spMk id="13" creationId="{A89A3E3C-B4EF-75D7-D1C5-4752F52E4FA3}"/>
          </ac:spMkLst>
        </pc:spChg>
      </pc:sldChg>
      <pc:sldChg chg="addSp delSp modSp mod">
        <pc:chgData name="Anders Broström" userId="38061b4a-6548-4094-b1cc-1f5ac35c4bc6" providerId="ADAL" clId="{596EB967-57A3-426B-9791-25B69E97892B}" dt="2026-03-20T13:49:43.596" v="1348" actId="14100"/>
        <pc:sldMkLst>
          <pc:docMk/>
          <pc:sldMk cId="3394832678" sldId="299"/>
        </pc:sldMkLst>
        <pc:spChg chg="del">
          <ac:chgData name="Anders Broström" userId="38061b4a-6548-4094-b1cc-1f5ac35c4bc6" providerId="ADAL" clId="{596EB967-57A3-426B-9791-25B69E97892B}" dt="2026-03-20T13:43:55.066" v="1222" actId="478"/>
          <ac:spMkLst>
            <pc:docMk/>
            <pc:sldMk cId="3394832678" sldId="299"/>
            <ac:spMk id="2" creationId="{93F6C00D-FDD9-89EB-0E77-60C08D6AE176}"/>
          </ac:spMkLst>
        </pc:spChg>
        <pc:spChg chg="mod">
          <ac:chgData name="Anders Broström" userId="38061b4a-6548-4094-b1cc-1f5ac35c4bc6" providerId="ADAL" clId="{596EB967-57A3-426B-9791-25B69E97892B}" dt="2026-03-20T13:49:28.168" v="1280" actId="20577"/>
          <ac:spMkLst>
            <pc:docMk/>
            <pc:sldMk cId="3394832678" sldId="299"/>
            <ac:spMk id="3" creationId="{3B56E3CC-FF41-BC06-84CD-AAF568685860}"/>
          </ac:spMkLst>
        </pc:spChg>
        <pc:picChg chg="add mod">
          <ac:chgData name="Anders Broström" userId="38061b4a-6548-4094-b1cc-1f5ac35c4bc6" providerId="ADAL" clId="{596EB967-57A3-426B-9791-25B69E97892B}" dt="2026-03-20T10:30:05.706" v="325" actId="1076"/>
          <ac:picMkLst>
            <pc:docMk/>
            <pc:sldMk cId="3394832678" sldId="299"/>
            <ac:picMk id="5" creationId="{38A16098-BCFB-CE2A-A12C-5D77C49E0C28}"/>
          </ac:picMkLst>
        </pc:picChg>
        <pc:picChg chg="add mod">
          <ac:chgData name="Anders Broström" userId="38061b4a-6548-4094-b1cc-1f5ac35c4bc6" providerId="ADAL" clId="{596EB967-57A3-426B-9791-25B69E97892B}" dt="2026-03-20T13:49:43.596" v="1348" actId="14100"/>
          <ac:picMkLst>
            <pc:docMk/>
            <pc:sldMk cId="3394832678" sldId="299"/>
            <ac:picMk id="7" creationId="{8F423986-3FA7-55AE-72A3-F0D7003F74AC}"/>
          </ac:picMkLst>
        </pc:picChg>
      </pc:sldChg>
      <pc:sldChg chg="addSp delSp modSp mod">
        <pc:chgData name="Anders Broström" userId="38061b4a-6548-4094-b1cc-1f5ac35c4bc6" providerId="ADAL" clId="{596EB967-57A3-426B-9791-25B69E97892B}" dt="2026-03-20T13:44:46.264" v="1232" actId="114"/>
        <pc:sldMkLst>
          <pc:docMk/>
          <pc:sldMk cId="2351024868" sldId="300"/>
        </pc:sldMkLst>
        <pc:spChg chg="del">
          <ac:chgData name="Anders Broström" userId="38061b4a-6548-4094-b1cc-1f5ac35c4bc6" providerId="ADAL" clId="{596EB967-57A3-426B-9791-25B69E97892B}" dt="2026-03-20T10:35:32.993" v="560" actId="478"/>
          <ac:spMkLst>
            <pc:docMk/>
            <pc:sldMk cId="2351024868" sldId="300"/>
            <ac:spMk id="2" creationId="{4BEE7614-7808-C7B1-3584-F3D4CBA14D67}"/>
          </ac:spMkLst>
        </pc:spChg>
        <pc:spChg chg="mod">
          <ac:chgData name="Anders Broström" userId="38061b4a-6548-4094-b1cc-1f5ac35c4bc6" providerId="ADAL" clId="{596EB967-57A3-426B-9791-25B69E97892B}" dt="2026-03-20T13:44:46.264" v="1232" actId="114"/>
          <ac:spMkLst>
            <pc:docMk/>
            <pc:sldMk cId="2351024868" sldId="300"/>
            <ac:spMk id="3" creationId="{ABDA8C11-8E30-3072-73AA-0103A689949C}"/>
          </ac:spMkLst>
        </pc:spChg>
        <pc:picChg chg="add mod">
          <ac:chgData name="Anders Broström" userId="38061b4a-6548-4094-b1cc-1f5ac35c4bc6" providerId="ADAL" clId="{596EB967-57A3-426B-9791-25B69E97892B}" dt="2026-03-20T10:52:56.325" v="1097" actId="1076"/>
          <ac:picMkLst>
            <pc:docMk/>
            <pc:sldMk cId="2351024868" sldId="300"/>
            <ac:picMk id="5" creationId="{164CFDFD-A139-ABC7-EBCE-27212ED5B9D0}"/>
          </ac:picMkLst>
        </pc:picChg>
        <pc:picChg chg="add mod">
          <ac:chgData name="Anders Broström" userId="38061b4a-6548-4094-b1cc-1f5ac35c4bc6" providerId="ADAL" clId="{596EB967-57A3-426B-9791-25B69E97892B}" dt="2026-03-20T10:53:00.245" v="1098" actId="1076"/>
          <ac:picMkLst>
            <pc:docMk/>
            <pc:sldMk cId="2351024868" sldId="300"/>
            <ac:picMk id="2050" creationId="{46C2156C-867E-B904-B303-727B0F2F25A4}"/>
          </ac:picMkLst>
        </pc:picChg>
      </pc:sldChg>
      <pc:sldChg chg="addSp delSp modSp mod">
        <pc:chgData name="Anders Broström" userId="38061b4a-6548-4094-b1cc-1f5ac35c4bc6" providerId="ADAL" clId="{596EB967-57A3-426B-9791-25B69E97892B}" dt="2026-03-20T13:48:17.913" v="1253" actId="1076"/>
        <pc:sldMkLst>
          <pc:docMk/>
          <pc:sldMk cId="3777116975" sldId="301"/>
        </pc:sldMkLst>
        <pc:spChg chg="mod">
          <ac:chgData name="Anders Broström" userId="38061b4a-6548-4094-b1cc-1f5ac35c4bc6" providerId="ADAL" clId="{596EB967-57A3-426B-9791-25B69E97892B}" dt="2026-03-20T13:45:43.775" v="1246" actId="113"/>
          <ac:spMkLst>
            <pc:docMk/>
            <pc:sldMk cId="3777116975" sldId="301"/>
            <ac:spMk id="3" creationId="{AAA4ECB6-DC20-4222-0278-44C7EF16E0E5}"/>
          </ac:spMkLst>
        </pc:spChg>
        <pc:picChg chg="add del">
          <ac:chgData name="Anders Broström" userId="38061b4a-6548-4094-b1cc-1f5ac35c4bc6" providerId="ADAL" clId="{596EB967-57A3-426B-9791-25B69E97892B}" dt="2026-03-20T10:38:31.765" v="770" actId="22"/>
          <ac:picMkLst>
            <pc:docMk/>
            <pc:sldMk cId="3777116975" sldId="301"/>
            <ac:picMk id="5" creationId="{B92A10C8-0CFB-2E1B-D613-963E4DC5E72D}"/>
          </ac:picMkLst>
        </pc:picChg>
        <pc:picChg chg="add mod">
          <ac:chgData name="Anders Broström" userId="38061b4a-6548-4094-b1cc-1f5ac35c4bc6" providerId="ADAL" clId="{596EB967-57A3-426B-9791-25B69E97892B}" dt="2026-03-20T10:39:47.511" v="773" actId="1076"/>
          <ac:picMkLst>
            <pc:docMk/>
            <pc:sldMk cId="3777116975" sldId="301"/>
            <ac:picMk id="1026" creationId="{46A4A8D6-6791-1317-6117-418DF18E6E6E}"/>
          </ac:picMkLst>
        </pc:picChg>
        <pc:picChg chg="add mod">
          <ac:chgData name="Anders Broström" userId="38061b4a-6548-4094-b1cc-1f5ac35c4bc6" providerId="ADAL" clId="{596EB967-57A3-426B-9791-25B69E97892B}" dt="2026-03-20T13:47:30.912" v="1248" actId="1076"/>
          <ac:picMkLst>
            <pc:docMk/>
            <pc:sldMk cId="3777116975" sldId="301"/>
            <ac:picMk id="1028" creationId="{6C81DE2F-D9D4-4AFB-60D7-2B6D0D8D71E0}"/>
          </ac:picMkLst>
        </pc:picChg>
        <pc:picChg chg="add mod">
          <ac:chgData name="Anders Broström" userId="38061b4a-6548-4094-b1cc-1f5ac35c4bc6" providerId="ADAL" clId="{596EB967-57A3-426B-9791-25B69E97892B}" dt="2026-03-20T13:48:17.913" v="1253" actId="1076"/>
          <ac:picMkLst>
            <pc:docMk/>
            <pc:sldMk cId="3777116975" sldId="301"/>
            <ac:picMk id="1030" creationId="{F76B6843-AADF-E059-3FFA-14323449E1C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52241" y="0"/>
            <a:ext cx="2947035" cy="498374"/>
          </a:xfrm>
          <a:prstGeom prst="rect">
            <a:avLst/>
          </a:prstGeom>
        </p:spPr>
        <p:txBody>
          <a:bodyPr vert="horz" lIns="91440" tIns="45720" rIns="91440" bIns="45720" rtlCol="0"/>
          <a:lstStyle>
            <a:lvl1pPr algn="r">
              <a:defRPr sz="1200"/>
            </a:lvl1pPr>
          </a:lstStyle>
          <a:p>
            <a:fld id="{71BACA97-DCC5-D741-8303-D68B06D997A0}" type="datetimeFigureOut">
              <a:rPr lang="sv-SE" smtClean="0"/>
              <a:t>2026-03-20</a:t>
            </a:fld>
            <a:endParaRPr lang="sv-SE"/>
          </a:p>
        </p:txBody>
      </p:sp>
      <p:sp>
        <p:nvSpPr>
          <p:cNvPr id="4" name="Platshållare för bildobjekt 3"/>
          <p:cNvSpPr>
            <a:spLocks noGrp="1" noRot="1" noChangeAspect="1"/>
          </p:cNvSpPr>
          <p:nvPr>
            <p:ph type="sldImg" idx="2"/>
          </p:nvPr>
        </p:nvSpPr>
        <p:spPr>
          <a:xfrm>
            <a:off x="420688" y="1241425"/>
            <a:ext cx="5959475" cy="33528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0085" y="4780250"/>
            <a:ext cx="5440680" cy="3911114"/>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9434615"/>
            <a:ext cx="2947035" cy="498373"/>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52241" y="9434615"/>
            <a:ext cx="2947035" cy="498373"/>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2026-03-20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2026-03-20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2026-03-20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2026-03-20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sv-SE"/>
              <a:t>Klicka här för att ändra mall för rubrikformat</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2026-03-20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2026-03-20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sv-SE"/>
              <a:t>Klicka här för att ändra mall för rubrikformat</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sv-SE"/>
              <a:t>Klicka här för att ändra format på bakgrundstexten</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2026-03-20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sv-SE"/>
              <a:t>Klicka här för att ändra mall för rubrikformat</a:t>
            </a:r>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2026-03-20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2026-03-20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2026-03-20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2026-03-20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2026-03-20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2026-03-20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2026-03-20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sv-SE"/>
              <a:t>Klicka här för att ändra mall för rubrikformat</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sv-SE"/>
              <a:t>Klicka här för att ändra mall för rubrikformat</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2026-03-20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2026-03-20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2026-03-20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2026-03-20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2026-03-20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2026-03-20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12.xml"/><Relationship Id="rId4" Type="http://schemas.openxmlformats.org/officeDocument/2006/relationships/image" Target="../media/image2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sv-SE" dirty="0"/>
              <a:t>Intro projektarbete</a:t>
            </a:r>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fontScale="92500" lnSpcReduction="10000"/>
          </a:bodyPr>
          <a:lstStyle/>
          <a:p>
            <a:r>
              <a:rPr lang="sv-SE" sz="1000" dirty="0"/>
              <a:t>Anders Broström</a:t>
            </a:r>
          </a:p>
          <a:p>
            <a:r>
              <a:rPr lang="sv-SE" sz="1000" dirty="0"/>
              <a:t>ME1316 Kvantitativ affärs- och verksamhetsanalys</a:t>
            </a:r>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72D7861-DDD6-D79A-66BE-EE5E83BFD4B6}"/>
              </a:ext>
            </a:extLst>
          </p:cNvPr>
          <p:cNvSpPr>
            <a:spLocks noGrp="1"/>
          </p:cNvSpPr>
          <p:nvPr>
            <p:ph type="title"/>
          </p:nvPr>
        </p:nvSpPr>
        <p:spPr/>
        <p:txBody>
          <a:bodyPr/>
          <a:lstStyle/>
          <a:p>
            <a:r>
              <a:rPr lang="sv-SE" dirty="0"/>
              <a:t>Lärandemål</a:t>
            </a:r>
          </a:p>
        </p:txBody>
      </p:sp>
      <p:sp>
        <p:nvSpPr>
          <p:cNvPr id="3" name="Platshållare för innehåll 2">
            <a:extLst>
              <a:ext uri="{FF2B5EF4-FFF2-40B4-BE49-F238E27FC236}">
                <a16:creationId xmlns:a16="http://schemas.microsoft.com/office/drawing/2014/main" id="{7699AD56-0A96-DB57-58D0-2B98C2800AA1}"/>
              </a:ext>
            </a:extLst>
          </p:cNvPr>
          <p:cNvSpPr>
            <a:spLocks noGrp="1"/>
          </p:cNvSpPr>
          <p:nvPr>
            <p:ph idx="1"/>
          </p:nvPr>
        </p:nvSpPr>
        <p:spPr/>
        <p:txBody>
          <a:bodyPr/>
          <a:lstStyle/>
          <a:p>
            <a:pPr marL="512445" marR="356870" indent="-449580">
              <a:lnSpc>
                <a:spcPct val="88000"/>
              </a:lnSpc>
              <a:buNone/>
              <a:tabLst>
                <a:tab pos="512445" algn="l"/>
              </a:tabLst>
            </a:pPr>
            <a:endParaRPr lang="sv-SE" sz="1800" dirty="0">
              <a:effectLst/>
              <a:latin typeface="Calibri" panose="020F0502020204030204" pitchFamily="34" charset="0"/>
              <a:ea typeface="Calibri" panose="020F0502020204030204" pitchFamily="34" charset="0"/>
            </a:endParaRPr>
          </a:p>
          <a:p>
            <a:pPr marL="512445" marR="356870" indent="-449580">
              <a:lnSpc>
                <a:spcPct val="88000"/>
              </a:lnSpc>
              <a:buNone/>
              <a:tabLst>
                <a:tab pos="512445" algn="l"/>
              </a:tabLst>
            </a:pPr>
            <a:r>
              <a:rPr lang="sv-SE" sz="1800" dirty="0">
                <a:latin typeface="Calibri" panose="020F0502020204030204" pitchFamily="34" charset="0"/>
                <a:ea typeface="Calibri" panose="020F0502020204030204" pitchFamily="34" charset="0"/>
              </a:rPr>
              <a:t>Studenten skall kunna …</a:t>
            </a:r>
          </a:p>
          <a:p>
            <a:pPr marL="512445" marR="356870" indent="-449580">
              <a:lnSpc>
                <a:spcPct val="88000"/>
              </a:lnSpc>
              <a:buNone/>
              <a:tabLst>
                <a:tab pos="512445" algn="l"/>
              </a:tabLst>
            </a:pPr>
            <a:r>
              <a:rPr lang="sv-SE" sz="1800" dirty="0">
                <a:latin typeface="Calibri" panose="020F0502020204030204" pitchFamily="34" charset="0"/>
                <a:ea typeface="Calibri" panose="020F0502020204030204" pitchFamily="34" charset="0"/>
              </a:rPr>
              <a:t>… a</a:t>
            </a:r>
            <a:r>
              <a:rPr lang="sv-SE" sz="1800" dirty="0">
                <a:effectLst/>
                <a:latin typeface="Calibri" panose="020F0502020204030204" pitchFamily="34" charset="0"/>
                <a:ea typeface="Calibri" panose="020F0502020204030204" pitchFamily="34" charset="0"/>
              </a:rPr>
              <a:t>pplicera kvantitativa analysmetoder på verksamhetsdata, såsom driftdata, kunddata och produktdata. Grundläggande deskriptiv och prediktiv analys krävs för godkänt betyg. För överbetyg krävs uppvisad förmåga att systematiskt bearbeta data och genomföra statistiska analyser anpassade till frågeställningen.</a:t>
            </a:r>
          </a:p>
          <a:p>
            <a:pPr>
              <a:spcBef>
                <a:spcPts val="20"/>
              </a:spcBef>
              <a:buNone/>
            </a:pPr>
            <a:r>
              <a:rPr lang="sv-SE" sz="1800" i="1" dirty="0">
                <a:effectLst/>
                <a:latin typeface="Calibri" panose="020F0502020204030204" pitchFamily="34" charset="0"/>
                <a:ea typeface="Calibri" panose="020F0502020204030204" pitchFamily="34" charset="0"/>
              </a:rPr>
              <a:t> </a:t>
            </a:r>
            <a:endParaRPr lang="sv-SE" sz="1800" dirty="0">
              <a:effectLst/>
              <a:latin typeface="Calibri" panose="020F0502020204030204" pitchFamily="34" charset="0"/>
              <a:ea typeface="Calibri" panose="020F0502020204030204" pitchFamily="34" charset="0"/>
            </a:endParaRPr>
          </a:p>
          <a:p>
            <a:pPr marL="512445" marR="311785" indent="-449580">
              <a:lnSpc>
                <a:spcPct val="88000"/>
              </a:lnSpc>
              <a:buNone/>
              <a:tabLst>
                <a:tab pos="512445" algn="l"/>
              </a:tabLst>
            </a:pPr>
            <a:r>
              <a:rPr lang="sv-SE" sz="1800" dirty="0">
                <a:latin typeface="Calibri" panose="020F0502020204030204" pitchFamily="34" charset="0"/>
                <a:ea typeface="Calibri" panose="020F0502020204030204" pitchFamily="34" charset="0"/>
              </a:rPr>
              <a:t>… t</a:t>
            </a:r>
            <a:r>
              <a:rPr lang="sv-SE" sz="1800" dirty="0">
                <a:effectLst/>
                <a:latin typeface="Calibri" panose="020F0502020204030204" pitchFamily="34" charset="0"/>
                <a:ea typeface="Calibri" panose="020F0502020204030204" pitchFamily="34" charset="0"/>
              </a:rPr>
              <a:t>olka resultat av statistisk analys i en verksamhetskontext. För överbetyg krävs god uppvisad förmåga att förstå analysens resultat i den specifika verksamheten som</a:t>
            </a:r>
            <a:r>
              <a:rPr lang="sv-SE" sz="1800" spc="-85" dirty="0">
                <a:effectLst/>
                <a:latin typeface="Calibri" panose="020F0502020204030204" pitchFamily="34" charset="0"/>
                <a:ea typeface="Calibri" panose="020F0502020204030204" pitchFamily="34" charset="0"/>
              </a:rPr>
              <a:t> </a:t>
            </a:r>
            <a:r>
              <a:rPr lang="sv-SE" sz="1800" dirty="0">
                <a:effectLst/>
                <a:latin typeface="Calibri" panose="020F0502020204030204" pitchFamily="34" charset="0"/>
                <a:ea typeface="Calibri" panose="020F0502020204030204" pitchFamily="34" charset="0"/>
              </a:rPr>
              <a:t>studeras.</a:t>
            </a:r>
          </a:p>
          <a:p>
            <a:pPr marL="512445" marR="118110" indent="-449580">
              <a:lnSpc>
                <a:spcPct val="88000"/>
              </a:lnSpc>
              <a:buNone/>
              <a:tabLst>
                <a:tab pos="512445" algn="l"/>
              </a:tabLst>
            </a:pPr>
            <a:r>
              <a:rPr lang="sv-SE" sz="1800" dirty="0">
                <a:latin typeface="Calibri" panose="020F0502020204030204" pitchFamily="34" charset="0"/>
                <a:ea typeface="Calibri" panose="020F0502020204030204" pitchFamily="34" charset="0"/>
              </a:rPr>
              <a:t>… r</a:t>
            </a:r>
            <a:r>
              <a:rPr lang="sv-SE" sz="1800" dirty="0">
                <a:effectLst/>
                <a:latin typeface="Calibri" panose="020F0502020204030204" pitchFamily="34" charset="0"/>
                <a:ea typeface="Calibri" panose="020F0502020204030204" pitchFamily="34" charset="0"/>
              </a:rPr>
              <a:t>edogöra för antaganden och begränsningar i en genomförd analys. Detta omfattar både analys av datakvalitet och metodernas antaganden och</a:t>
            </a:r>
            <a:r>
              <a:rPr lang="sv-SE" sz="1800" spc="-40" dirty="0">
                <a:effectLst/>
                <a:latin typeface="Calibri" panose="020F0502020204030204" pitchFamily="34" charset="0"/>
                <a:ea typeface="Calibri" panose="020F0502020204030204" pitchFamily="34" charset="0"/>
              </a:rPr>
              <a:t> </a:t>
            </a:r>
            <a:r>
              <a:rPr lang="sv-SE" sz="1800" dirty="0">
                <a:effectLst/>
                <a:latin typeface="Calibri" panose="020F0502020204030204" pitchFamily="34" charset="0"/>
                <a:ea typeface="Calibri" panose="020F0502020204030204" pitchFamily="34" charset="0"/>
              </a:rPr>
              <a:t>begränsningar.</a:t>
            </a:r>
          </a:p>
          <a:p>
            <a:pPr>
              <a:spcBef>
                <a:spcPts val="10"/>
              </a:spcBef>
              <a:buNone/>
            </a:pPr>
            <a:r>
              <a:rPr lang="sv-SE" sz="1800" dirty="0">
                <a:effectLst/>
                <a:latin typeface="Calibri" panose="020F0502020204030204" pitchFamily="34" charset="0"/>
                <a:ea typeface="Calibri" panose="020F0502020204030204" pitchFamily="34" charset="0"/>
              </a:rPr>
              <a:t> </a:t>
            </a:r>
          </a:p>
        </p:txBody>
      </p:sp>
    </p:spTree>
    <p:extLst>
      <p:ext uri="{BB962C8B-B14F-4D97-AF65-F5344CB8AC3E}">
        <p14:creationId xmlns:p14="http://schemas.microsoft.com/office/powerpoint/2010/main" val="1968758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ADCC977-52CE-EDC8-4874-13785E1BAC04}"/>
              </a:ext>
            </a:extLst>
          </p:cNvPr>
          <p:cNvSpPr>
            <a:spLocks noGrp="1"/>
          </p:cNvSpPr>
          <p:nvPr>
            <p:ph type="title"/>
          </p:nvPr>
        </p:nvSpPr>
        <p:spPr/>
        <p:txBody>
          <a:bodyPr/>
          <a:lstStyle/>
          <a:p>
            <a:r>
              <a:rPr lang="sv-SE" dirty="0"/>
              <a:t>Examination</a:t>
            </a:r>
          </a:p>
        </p:txBody>
      </p:sp>
      <p:sp>
        <p:nvSpPr>
          <p:cNvPr id="3" name="Platshållare för innehåll 2">
            <a:extLst>
              <a:ext uri="{FF2B5EF4-FFF2-40B4-BE49-F238E27FC236}">
                <a16:creationId xmlns:a16="http://schemas.microsoft.com/office/drawing/2014/main" id="{36C796BB-28FA-FDB6-C9C2-AE394C64B121}"/>
              </a:ext>
            </a:extLst>
          </p:cNvPr>
          <p:cNvSpPr>
            <a:spLocks noGrp="1"/>
          </p:cNvSpPr>
          <p:nvPr>
            <p:ph idx="1"/>
          </p:nvPr>
        </p:nvSpPr>
        <p:spPr/>
        <p:txBody>
          <a:bodyPr/>
          <a:lstStyle/>
          <a:p>
            <a:r>
              <a:rPr lang="sv-SE" sz="1800" dirty="0">
                <a:effectLst/>
                <a:latin typeface="Arial" panose="020B0604020202020204" pitchFamily="34" charset="0"/>
                <a:ea typeface="Symbol" panose="05050102010706020507" pitchFamily="18" charset="2"/>
                <a:cs typeface="Symbol" panose="05050102010706020507" pitchFamily="18" charset="2"/>
              </a:rPr>
              <a:t>INL1 – Inlämningsuppgift 3,0 </a:t>
            </a:r>
            <a:r>
              <a:rPr lang="sv-SE" sz="1800" dirty="0" err="1">
                <a:effectLst/>
                <a:latin typeface="Arial" panose="020B0604020202020204" pitchFamily="34" charset="0"/>
                <a:ea typeface="Symbol" panose="05050102010706020507" pitchFamily="18" charset="2"/>
                <a:cs typeface="Symbol" panose="05050102010706020507" pitchFamily="18" charset="2"/>
              </a:rPr>
              <a:t>hp</a:t>
            </a:r>
            <a:r>
              <a:rPr lang="sv-SE" sz="1800" dirty="0">
                <a:effectLst/>
                <a:latin typeface="Arial" panose="020B0604020202020204" pitchFamily="34" charset="0"/>
                <a:ea typeface="Symbol" panose="05050102010706020507" pitchFamily="18" charset="2"/>
                <a:cs typeface="Symbol" panose="05050102010706020507" pitchFamily="18" charset="2"/>
              </a:rPr>
              <a:t> </a:t>
            </a:r>
          </a:p>
          <a:p>
            <a:r>
              <a:rPr lang="sv-SE" sz="1800" dirty="0">
                <a:effectLst/>
                <a:latin typeface="Arial" panose="020B0604020202020204" pitchFamily="34" charset="0"/>
                <a:ea typeface="Symbol" panose="05050102010706020507" pitchFamily="18" charset="2"/>
                <a:cs typeface="Symbol" panose="05050102010706020507" pitchFamily="18" charset="2"/>
              </a:rPr>
              <a:t>betygsskala: A, C, E, </a:t>
            </a:r>
            <a:r>
              <a:rPr lang="sv-SE" sz="1800" dirty="0" err="1">
                <a:effectLst/>
                <a:latin typeface="Arial" panose="020B0604020202020204" pitchFamily="34" charset="0"/>
                <a:ea typeface="Symbol" panose="05050102010706020507" pitchFamily="18" charset="2"/>
                <a:cs typeface="Symbol" panose="05050102010706020507" pitchFamily="18" charset="2"/>
              </a:rPr>
              <a:t>Fx</a:t>
            </a:r>
            <a:r>
              <a:rPr lang="sv-SE" sz="1800" dirty="0">
                <a:effectLst/>
                <a:latin typeface="Arial" panose="020B0604020202020204" pitchFamily="34" charset="0"/>
                <a:ea typeface="Symbol" panose="05050102010706020507" pitchFamily="18" charset="2"/>
                <a:cs typeface="Symbol" panose="05050102010706020507" pitchFamily="18" charset="2"/>
              </a:rPr>
              <a:t>,</a:t>
            </a:r>
            <a:r>
              <a:rPr lang="sv-SE" sz="1800" spc="-30" dirty="0">
                <a:effectLst/>
                <a:latin typeface="Arial" panose="020B0604020202020204" pitchFamily="34" charset="0"/>
                <a:ea typeface="Symbol" panose="05050102010706020507" pitchFamily="18" charset="2"/>
                <a:cs typeface="Symbol" panose="05050102010706020507" pitchFamily="18" charset="2"/>
              </a:rPr>
              <a:t> </a:t>
            </a:r>
            <a:r>
              <a:rPr lang="sv-SE" sz="1800" dirty="0">
                <a:effectLst/>
                <a:latin typeface="Arial" panose="020B0604020202020204" pitchFamily="34" charset="0"/>
                <a:ea typeface="Symbol" panose="05050102010706020507" pitchFamily="18" charset="2"/>
                <a:cs typeface="Symbol" panose="05050102010706020507" pitchFamily="18" charset="2"/>
              </a:rPr>
              <a:t>F</a:t>
            </a:r>
          </a:p>
          <a:p>
            <a:r>
              <a:rPr lang="sv-SE" sz="1800" dirty="0">
                <a:latin typeface="Arial" panose="020B0604020202020204" pitchFamily="34" charset="0"/>
                <a:ea typeface="Symbol" panose="05050102010706020507" pitchFamily="18" charset="2"/>
                <a:cs typeface="Symbol" panose="05050102010706020507" pitchFamily="18" charset="2"/>
              </a:rPr>
              <a:t>Plussning ej möjlig</a:t>
            </a:r>
          </a:p>
          <a:p>
            <a:endParaRPr lang="sv-SE" sz="1800" dirty="0">
              <a:latin typeface="Arial" panose="020B0604020202020204" pitchFamily="34" charset="0"/>
              <a:ea typeface="Symbol" panose="05050102010706020507" pitchFamily="18" charset="2"/>
              <a:cs typeface="Symbol" panose="05050102010706020507" pitchFamily="18" charset="2"/>
            </a:endParaRPr>
          </a:p>
          <a:p>
            <a:endParaRPr lang="sv-SE" dirty="0"/>
          </a:p>
        </p:txBody>
      </p:sp>
    </p:spTree>
    <p:extLst>
      <p:ext uri="{BB962C8B-B14F-4D97-AF65-F5344CB8AC3E}">
        <p14:creationId xmlns:p14="http://schemas.microsoft.com/office/powerpoint/2010/main" val="1698767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3B56E3CC-FF41-BC06-84CD-AAF568685860}"/>
              </a:ext>
            </a:extLst>
          </p:cNvPr>
          <p:cNvSpPr>
            <a:spLocks noGrp="1"/>
          </p:cNvSpPr>
          <p:nvPr>
            <p:ph idx="1"/>
          </p:nvPr>
        </p:nvSpPr>
        <p:spPr>
          <a:xfrm>
            <a:off x="600074" y="1589602"/>
            <a:ext cx="10990263" cy="4453808"/>
          </a:xfrm>
        </p:spPr>
        <p:txBody>
          <a:bodyPr/>
          <a:lstStyle/>
          <a:p>
            <a:pPr>
              <a:buNone/>
            </a:pPr>
            <a:r>
              <a:rPr lang="sv-SE" b="1" dirty="0">
                <a:effectLst/>
                <a:latin typeface="Aptos" panose="020B0004020202020204" pitchFamily="34" charset="0"/>
                <a:ea typeface="Aptos" panose="020B0004020202020204" pitchFamily="34" charset="0"/>
                <a:cs typeface="Aptos" panose="020B0004020202020204" pitchFamily="34" charset="0"/>
              </a:rPr>
              <a:t>PROJEKT 1</a:t>
            </a:r>
            <a:r>
              <a:rPr lang="sv-SE" dirty="0">
                <a:effectLst/>
                <a:latin typeface="Aptos" panose="020B0004020202020204" pitchFamily="34" charset="0"/>
                <a:ea typeface="Aptos" panose="020B0004020202020204" pitchFamily="34" charset="0"/>
                <a:cs typeface="Aptos" panose="020B0004020202020204" pitchFamily="34" charset="0"/>
              </a:rPr>
              <a:t>: Analys av vattenflöden</a:t>
            </a:r>
          </a:p>
          <a:p>
            <a:pPr>
              <a:buNone/>
            </a:pPr>
            <a:r>
              <a:rPr lang="sv-SE" dirty="0">
                <a:effectLst/>
                <a:latin typeface="Aptos" panose="020B0004020202020204" pitchFamily="34" charset="0"/>
                <a:ea typeface="Aptos" panose="020B0004020202020204" pitchFamily="34" charset="0"/>
                <a:cs typeface="Aptos" panose="020B0004020202020204" pitchFamily="34" charset="0"/>
              </a:rPr>
              <a:t>Kontext: 	</a:t>
            </a:r>
            <a:r>
              <a:rPr lang="sv-SE" dirty="0">
                <a:latin typeface="Aptos" panose="020B0004020202020204" pitchFamily="34" charset="0"/>
                <a:ea typeface="Aptos" panose="020B0004020202020204" pitchFamily="34" charset="0"/>
                <a:cs typeface="Aptos" panose="020B0004020202020204" pitchFamily="34" charset="0"/>
              </a:rPr>
              <a:t>T</a:t>
            </a:r>
            <a:r>
              <a:rPr lang="sv-SE" dirty="0">
                <a:effectLst/>
                <a:latin typeface="Aptos" panose="020B0004020202020204" pitchFamily="34" charset="0"/>
                <a:ea typeface="Aptos" panose="020B0004020202020204" pitchFamily="34" charset="0"/>
                <a:cs typeface="Aptos" panose="020B0004020202020204" pitchFamily="34" charset="0"/>
              </a:rPr>
              <a:t>eknisk utveckling</a:t>
            </a:r>
          </a:p>
          <a:p>
            <a:pPr>
              <a:buNone/>
            </a:pPr>
            <a:r>
              <a:rPr lang="sv-SE" dirty="0">
                <a:effectLst/>
                <a:latin typeface="Aptos" panose="020B0004020202020204" pitchFamily="34" charset="0"/>
                <a:ea typeface="Aptos" panose="020B0004020202020204" pitchFamily="34" charset="0"/>
                <a:cs typeface="Aptos" panose="020B0004020202020204" pitchFamily="34" charset="0"/>
              </a:rPr>
              <a:t>Syfte: 		Identifiera mönster i flöde och temperatur som ger </a:t>
            </a:r>
            <a:br>
              <a:rPr lang="sv-SE" dirty="0">
                <a:effectLst/>
                <a:latin typeface="Aptos" panose="020B0004020202020204" pitchFamily="34" charset="0"/>
                <a:ea typeface="Aptos" panose="020B0004020202020204" pitchFamily="34" charset="0"/>
                <a:cs typeface="Aptos" panose="020B0004020202020204" pitchFamily="34" charset="0"/>
              </a:rPr>
            </a:br>
            <a:r>
              <a:rPr lang="sv-SE" dirty="0">
                <a:effectLst/>
                <a:latin typeface="Aptos" panose="020B0004020202020204" pitchFamily="34" charset="0"/>
                <a:ea typeface="Aptos" panose="020B0004020202020204" pitchFamily="34" charset="0"/>
                <a:cs typeface="Aptos" panose="020B0004020202020204" pitchFamily="34" charset="0"/>
              </a:rPr>
              <a:t>		pålitlig prediktion av vattenläckor</a:t>
            </a:r>
          </a:p>
          <a:p>
            <a:pPr>
              <a:buNone/>
            </a:pPr>
            <a:r>
              <a:rPr lang="sv-SE" b="1" dirty="0">
                <a:effectLst/>
                <a:latin typeface="Aptos" panose="020B0004020202020204" pitchFamily="34" charset="0"/>
                <a:ea typeface="Aptos" panose="020B0004020202020204" pitchFamily="34" charset="0"/>
                <a:cs typeface="Aptos" panose="020B0004020202020204" pitchFamily="34" charset="0"/>
              </a:rPr>
              <a:t>Handledare: </a:t>
            </a:r>
            <a:r>
              <a:rPr lang="sv-SE" dirty="0">
                <a:effectLst/>
                <a:latin typeface="Aptos" panose="020B0004020202020204" pitchFamily="34" charset="0"/>
                <a:ea typeface="Aptos" panose="020B0004020202020204" pitchFamily="34" charset="0"/>
                <a:cs typeface="Aptos" panose="020B0004020202020204" pitchFamily="34" charset="0"/>
              </a:rPr>
              <a:t>	</a:t>
            </a:r>
            <a:r>
              <a:rPr lang="sv-SE" i="1" dirty="0">
                <a:effectLst/>
                <a:latin typeface="Aptos" panose="020B0004020202020204" pitchFamily="34" charset="0"/>
                <a:ea typeface="Aptos" panose="020B0004020202020204" pitchFamily="34" charset="0"/>
                <a:cs typeface="Aptos" panose="020B0004020202020204" pitchFamily="34" charset="0"/>
              </a:rPr>
              <a:t>Andreas Feldmann</a:t>
            </a:r>
            <a:r>
              <a:rPr lang="sv-SE" dirty="0">
                <a:latin typeface="Aptos" panose="020B0004020202020204" pitchFamily="34" charset="0"/>
                <a:ea typeface="Aptos" panose="020B0004020202020204" pitchFamily="34" charset="0"/>
                <a:cs typeface="Aptos" panose="020B0004020202020204" pitchFamily="34" charset="0"/>
              </a:rPr>
              <a:t>, medverkan från </a:t>
            </a:r>
            <a:r>
              <a:rPr lang="sv-SE" i="1" dirty="0" err="1">
                <a:latin typeface="Aptos" panose="020B0004020202020204" pitchFamily="34" charset="0"/>
                <a:ea typeface="Aptos" panose="020B0004020202020204" pitchFamily="34" charset="0"/>
                <a:cs typeface="Aptos" panose="020B0004020202020204" pitchFamily="34" charset="0"/>
              </a:rPr>
              <a:t>Quandify</a:t>
            </a:r>
            <a:endParaRPr lang="sv-SE" i="1" dirty="0">
              <a:effectLst/>
              <a:latin typeface="Aptos" panose="020B0004020202020204" pitchFamily="34" charset="0"/>
              <a:ea typeface="Aptos" panose="020B0004020202020204" pitchFamily="34" charset="0"/>
              <a:cs typeface="Aptos" panose="020B0004020202020204" pitchFamily="34" charset="0"/>
            </a:endParaRPr>
          </a:p>
          <a:p>
            <a:pPr>
              <a:buNone/>
            </a:pPr>
            <a:r>
              <a:rPr lang="sv-SE" dirty="0">
                <a:effectLst/>
                <a:latin typeface="Aptos" panose="020B0004020202020204" pitchFamily="34" charset="0"/>
                <a:ea typeface="Aptos" panose="020B0004020202020204" pitchFamily="34" charset="0"/>
                <a:cs typeface="Aptos" panose="020B0004020202020204" pitchFamily="34" charset="0"/>
              </a:rPr>
              <a:t>Koppling till ämnen / kurser:  Statistik, ML, signal- och systemteori</a:t>
            </a:r>
            <a:endParaRPr lang="sv-SE" dirty="0">
              <a:latin typeface="Aptos" panose="020B0004020202020204" pitchFamily="34" charset="0"/>
              <a:ea typeface="Aptos" panose="020B0004020202020204" pitchFamily="34" charset="0"/>
              <a:cs typeface="Aptos" panose="020B0004020202020204" pitchFamily="34" charset="0"/>
            </a:endParaRPr>
          </a:p>
          <a:p>
            <a:pPr>
              <a:buNone/>
            </a:pPr>
            <a:endParaRPr lang="sv-SE" dirty="0">
              <a:effectLst/>
              <a:latin typeface="Aptos" panose="020B0004020202020204" pitchFamily="34" charset="0"/>
              <a:ea typeface="Aptos" panose="020B0004020202020204" pitchFamily="34" charset="0"/>
              <a:cs typeface="Aptos" panose="020B0004020202020204" pitchFamily="34" charset="0"/>
            </a:endParaRPr>
          </a:p>
          <a:p>
            <a:pPr>
              <a:buNone/>
            </a:pPr>
            <a:r>
              <a:rPr lang="sv-SE" b="1" dirty="0">
                <a:effectLst/>
                <a:latin typeface="Aptos" panose="020B0004020202020204" pitchFamily="34" charset="0"/>
                <a:ea typeface="Aptos" panose="020B0004020202020204" pitchFamily="34" charset="0"/>
                <a:cs typeface="Aptos" panose="020B0004020202020204" pitchFamily="34" charset="0"/>
              </a:rPr>
              <a:t>PROJEKT 2</a:t>
            </a:r>
            <a:r>
              <a:rPr lang="sv-SE" dirty="0">
                <a:effectLst/>
                <a:latin typeface="Aptos" panose="020B0004020202020204" pitchFamily="34" charset="0"/>
                <a:ea typeface="Aptos" panose="020B0004020202020204" pitchFamily="34" charset="0"/>
                <a:cs typeface="Aptos" panose="020B0004020202020204" pitchFamily="34" charset="0"/>
              </a:rPr>
              <a:t>: Hur går det svenska start-</a:t>
            </a:r>
            <a:r>
              <a:rPr lang="sv-SE" dirty="0" err="1">
                <a:effectLst/>
                <a:latin typeface="Aptos" panose="020B0004020202020204" pitchFamily="34" charset="0"/>
                <a:ea typeface="Aptos" panose="020B0004020202020204" pitchFamily="34" charset="0"/>
                <a:cs typeface="Aptos" panose="020B0004020202020204" pitchFamily="34" charset="0"/>
              </a:rPr>
              <a:t>ups</a:t>
            </a:r>
            <a:r>
              <a:rPr lang="sv-SE" dirty="0">
                <a:effectLst/>
                <a:latin typeface="Aptos" panose="020B0004020202020204" pitchFamily="34" charset="0"/>
                <a:ea typeface="Aptos" panose="020B0004020202020204" pitchFamily="34" charset="0"/>
                <a:cs typeface="Aptos" panose="020B0004020202020204" pitchFamily="34" charset="0"/>
              </a:rPr>
              <a:t> och </a:t>
            </a:r>
            <a:r>
              <a:rPr lang="sv-SE" dirty="0" err="1">
                <a:effectLst/>
                <a:latin typeface="Aptos" panose="020B0004020202020204" pitchFamily="34" charset="0"/>
                <a:ea typeface="Aptos" panose="020B0004020202020204" pitchFamily="34" charset="0"/>
                <a:cs typeface="Aptos" panose="020B0004020202020204" pitchFamily="34" charset="0"/>
              </a:rPr>
              <a:t>scale</a:t>
            </a:r>
            <a:r>
              <a:rPr lang="sv-SE" dirty="0">
                <a:effectLst/>
                <a:latin typeface="Aptos" panose="020B0004020202020204" pitchFamily="34" charset="0"/>
                <a:ea typeface="Aptos" panose="020B0004020202020204" pitchFamily="34" charset="0"/>
                <a:cs typeface="Aptos" panose="020B0004020202020204" pitchFamily="34" charset="0"/>
              </a:rPr>
              <a:t> </a:t>
            </a:r>
            <a:r>
              <a:rPr lang="sv-SE" dirty="0" err="1">
                <a:effectLst/>
                <a:latin typeface="Aptos" panose="020B0004020202020204" pitchFamily="34" charset="0"/>
                <a:ea typeface="Aptos" panose="020B0004020202020204" pitchFamily="34" charset="0"/>
                <a:cs typeface="Aptos" panose="020B0004020202020204" pitchFamily="34" charset="0"/>
              </a:rPr>
              <a:t>ups</a:t>
            </a:r>
            <a:r>
              <a:rPr lang="sv-SE" dirty="0">
                <a:effectLst/>
                <a:latin typeface="Aptos" panose="020B0004020202020204" pitchFamily="34" charset="0"/>
                <a:ea typeface="Aptos" panose="020B0004020202020204" pitchFamily="34" charset="0"/>
                <a:cs typeface="Aptos" panose="020B0004020202020204" pitchFamily="34" charset="0"/>
              </a:rPr>
              <a:t>?</a:t>
            </a:r>
          </a:p>
          <a:p>
            <a:pPr>
              <a:buNone/>
            </a:pPr>
            <a:r>
              <a:rPr lang="sv-SE" b="1" dirty="0">
                <a:effectLst/>
                <a:latin typeface="Aptos" panose="020B0004020202020204" pitchFamily="34" charset="0"/>
                <a:ea typeface="Aptos" panose="020B0004020202020204" pitchFamily="34" charset="0"/>
                <a:cs typeface="Aptos" panose="020B0004020202020204" pitchFamily="34" charset="0"/>
              </a:rPr>
              <a:t>Kontext</a:t>
            </a:r>
            <a:r>
              <a:rPr lang="sv-SE" dirty="0">
                <a:effectLst/>
                <a:latin typeface="Aptos" panose="020B0004020202020204" pitchFamily="34" charset="0"/>
                <a:ea typeface="Aptos" panose="020B0004020202020204" pitchFamily="34" charset="0"/>
                <a:cs typeface="Aptos" panose="020B0004020202020204" pitchFamily="34" charset="0"/>
              </a:rPr>
              <a:t>: 	Analys av startup-verksamhet</a:t>
            </a:r>
          </a:p>
          <a:p>
            <a:pPr>
              <a:buNone/>
            </a:pPr>
            <a:r>
              <a:rPr lang="sv-SE" b="1" dirty="0">
                <a:effectLst/>
                <a:latin typeface="Aptos" panose="020B0004020202020204" pitchFamily="34" charset="0"/>
                <a:ea typeface="Aptos" panose="020B0004020202020204" pitchFamily="34" charset="0"/>
                <a:cs typeface="Aptos" panose="020B0004020202020204" pitchFamily="34" charset="0"/>
              </a:rPr>
              <a:t>Syfte:</a:t>
            </a:r>
            <a:r>
              <a:rPr lang="sv-SE" dirty="0">
                <a:effectLst/>
                <a:latin typeface="Aptos" panose="020B0004020202020204" pitchFamily="34" charset="0"/>
                <a:ea typeface="Aptos" panose="020B0004020202020204" pitchFamily="34" charset="0"/>
                <a:cs typeface="Aptos" panose="020B0004020202020204" pitchFamily="34" charset="0"/>
              </a:rPr>
              <a:t>		Utifrån  finansiell data analysera hur det går för svenska </a:t>
            </a:r>
            <a:br>
              <a:rPr lang="sv-SE" dirty="0">
                <a:effectLst/>
                <a:latin typeface="Aptos" panose="020B0004020202020204" pitchFamily="34" charset="0"/>
                <a:ea typeface="Aptos" panose="020B0004020202020204" pitchFamily="34" charset="0"/>
                <a:cs typeface="Aptos" panose="020B0004020202020204" pitchFamily="34" charset="0"/>
              </a:rPr>
            </a:br>
            <a:r>
              <a:rPr lang="sv-SE" dirty="0">
                <a:effectLst/>
                <a:latin typeface="Aptos" panose="020B0004020202020204" pitchFamily="34" charset="0"/>
                <a:ea typeface="Aptos" panose="020B0004020202020204" pitchFamily="34" charset="0"/>
                <a:cs typeface="Aptos" panose="020B0004020202020204" pitchFamily="34" charset="0"/>
              </a:rPr>
              <a:t>		start-</a:t>
            </a:r>
            <a:r>
              <a:rPr lang="sv-SE" dirty="0" err="1">
                <a:effectLst/>
                <a:latin typeface="Aptos" panose="020B0004020202020204" pitchFamily="34" charset="0"/>
                <a:ea typeface="Aptos" panose="020B0004020202020204" pitchFamily="34" charset="0"/>
                <a:cs typeface="Aptos" panose="020B0004020202020204" pitchFamily="34" charset="0"/>
              </a:rPr>
              <a:t>ups</a:t>
            </a:r>
            <a:r>
              <a:rPr lang="sv-SE" dirty="0">
                <a:effectLst/>
                <a:latin typeface="Aptos" panose="020B0004020202020204" pitchFamily="34" charset="0"/>
                <a:ea typeface="Aptos" panose="020B0004020202020204" pitchFamily="34" charset="0"/>
                <a:cs typeface="Aptos" panose="020B0004020202020204" pitchFamily="34" charset="0"/>
              </a:rPr>
              <a:t> och </a:t>
            </a:r>
            <a:r>
              <a:rPr lang="sv-SE" dirty="0" err="1">
                <a:effectLst/>
                <a:latin typeface="Aptos" panose="020B0004020202020204" pitchFamily="34" charset="0"/>
                <a:ea typeface="Aptos" panose="020B0004020202020204" pitchFamily="34" charset="0"/>
                <a:cs typeface="Aptos" panose="020B0004020202020204" pitchFamily="34" charset="0"/>
              </a:rPr>
              <a:t>scale</a:t>
            </a:r>
            <a:r>
              <a:rPr lang="sv-SE" dirty="0">
                <a:effectLst/>
                <a:latin typeface="Aptos" panose="020B0004020202020204" pitchFamily="34" charset="0"/>
                <a:ea typeface="Aptos" panose="020B0004020202020204" pitchFamily="34" charset="0"/>
                <a:cs typeface="Aptos" panose="020B0004020202020204" pitchFamily="34" charset="0"/>
              </a:rPr>
              <a:t> </a:t>
            </a:r>
            <a:r>
              <a:rPr lang="sv-SE" dirty="0" err="1">
                <a:effectLst/>
                <a:latin typeface="Aptos" panose="020B0004020202020204" pitchFamily="34" charset="0"/>
                <a:ea typeface="Aptos" panose="020B0004020202020204" pitchFamily="34" charset="0"/>
                <a:cs typeface="Aptos" panose="020B0004020202020204" pitchFamily="34" charset="0"/>
              </a:rPr>
              <a:t>ups</a:t>
            </a:r>
            <a:r>
              <a:rPr lang="sv-SE" dirty="0">
                <a:effectLst/>
                <a:latin typeface="Aptos" panose="020B0004020202020204" pitchFamily="34" charset="0"/>
                <a:ea typeface="Aptos" panose="020B0004020202020204" pitchFamily="34" charset="0"/>
                <a:cs typeface="Aptos" panose="020B0004020202020204" pitchFamily="34" charset="0"/>
              </a:rPr>
              <a:t>, och kvalitetsgranskning av ny data </a:t>
            </a:r>
          </a:p>
          <a:p>
            <a:pPr>
              <a:buNone/>
            </a:pPr>
            <a:r>
              <a:rPr lang="sv-SE" b="1" dirty="0">
                <a:effectLst/>
                <a:latin typeface="Aptos" panose="020B0004020202020204" pitchFamily="34" charset="0"/>
                <a:ea typeface="Aptos" panose="020B0004020202020204" pitchFamily="34" charset="0"/>
                <a:cs typeface="Aptos" panose="020B0004020202020204" pitchFamily="34" charset="0"/>
              </a:rPr>
              <a:t>Handledare: </a:t>
            </a:r>
            <a:r>
              <a:rPr lang="sv-SE" dirty="0">
                <a:effectLst/>
                <a:latin typeface="Aptos" panose="020B0004020202020204" pitchFamily="34" charset="0"/>
                <a:ea typeface="Aptos" panose="020B0004020202020204" pitchFamily="34" charset="0"/>
                <a:cs typeface="Aptos" panose="020B0004020202020204" pitchFamily="34" charset="0"/>
              </a:rPr>
              <a:t>	</a:t>
            </a:r>
            <a:r>
              <a:rPr lang="sv-SE" i="1" dirty="0">
                <a:effectLst/>
                <a:latin typeface="Aptos" panose="020B0004020202020204" pitchFamily="34" charset="0"/>
                <a:ea typeface="Aptos" panose="020B0004020202020204" pitchFamily="34" charset="0"/>
                <a:cs typeface="Aptos" panose="020B0004020202020204" pitchFamily="34" charset="0"/>
              </a:rPr>
              <a:t>Kristina Nyström</a:t>
            </a:r>
            <a:r>
              <a:rPr lang="sv-SE" dirty="0">
                <a:latin typeface="Aptos" panose="020B0004020202020204" pitchFamily="34" charset="0"/>
                <a:ea typeface="Aptos" panose="020B0004020202020204" pitchFamily="34" charset="0"/>
                <a:cs typeface="Aptos" panose="020B0004020202020204" pitchFamily="34" charset="0"/>
              </a:rPr>
              <a:t>, medverkan från </a:t>
            </a:r>
            <a:r>
              <a:rPr lang="sv-SE" i="1" dirty="0">
                <a:latin typeface="Aptos" panose="020B0004020202020204" pitchFamily="34" charset="0"/>
                <a:ea typeface="Aptos" panose="020B0004020202020204" pitchFamily="34" charset="0"/>
                <a:cs typeface="Aptos" panose="020B0004020202020204" pitchFamily="34" charset="0"/>
              </a:rPr>
              <a:t>Sweden Startup </a:t>
            </a:r>
            <a:r>
              <a:rPr lang="sv-SE" i="1" dirty="0" err="1">
                <a:latin typeface="Aptos" panose="020B0004020202020204" pitchFamily="34" charset="0"/>
                <a:ea typeface="Aptos" panose="020B0004020202020204" pitchFamily="34" charset="0"/>
                <a:cs typeface="Aptos" panose="020B0004020202020204" pitchFamily="34" charset="0"/>
              </a:rPr>
              <a:t>Next</a:t>
            </a:r>
            <a:endParaRPr lang="sv-SE" i="1" dirty="0">
              <a:effectLst/>
              <a:latin typeface="Aptos" panose="020B0004020202020204" pitchFamily="34" charset="0"/>
              <a:ea typeface="Aptos" panose="020B0004020202020204" pitchFamily="34" charset="0"/>
              <a:cs typeface="Aptos" panose="020B0004020202020204" pitchFamily="34" charset="0"/>
            </a:endParaRPr>
          </a:p>
          <a:p>
            <a:pPr>
              <a:buNone/>
            </a:pPr>
            <a:r>
              <a:rPr lang="sv-SE" dirty="0">
                <a:effectLst/>
                <a:latin typeface="Aptos" panose="020B0004020202020204" pitchFamily="34" charset="0"/>
                <a:ea typeface="Aptos" panose="020B0004020202020204" pitchFamily="34" charset="0"/>
                <a:cs typeface="Aptos" panose="020B0004020202020204" pitchFamily="34" charset="0"/>
              </a:rPr>
              <a:t>Koppling till ämnen / kurser: Mikroekonomi (nationalekonomi), finansiell ekonomi</a:t>
            </a:r>
          </a:p>
          <a:p>
            <a:pPr>
              <a:buNone/>
            </a:pPr>
            <a:r>
              <a:rPr lang="sv-SE" dirty="0">
                <a:effectLst/>
                <a:latin typeface="Aptos" panose="020B0004020202020204" pitchFamily="34" charset="0"/>
                <a:ea typeface="Aptos" panose="020B0004020202020204" pitchFamily="34" charset="0"/>
                <a:cs typeface="Aptos" panose="020B0004020202020204" pitchFamily="34" charset="0"/>
              </a:rPr>
              <a:t> </a:t>
            </a:r>
          </a:p>
          <a:p>
            <a:endParaRPr lang="sv-SE" dirty="0"/>
          </a:p>
        </p:txBody>
      </p:sp>
      <p:pic>
        <p:nvPicPr>
          <p:cNvPr id="5" name="Bildobjekt 4">
            <a:extLst>
              <a:ext uri="{FF2B5EF4-FFF2-40B4-BE49-F238E27FC236}">
                <a16:creationId xmlns:a16="http://schemas.microsoft.com/office/drawing/2014/main" id="{38A16098-BCFB-CE2A-A12C-5D77C49E0C28}"/>
              </a:ext>
            </a:extLst>
          </p:cNvPr>
          <p:cNvPicPr>
            <a:picLocks noChangeAspect="1"/>
          </p:cNvPicPr>
          <p:nvPr/>
        </p:nvPicPr>
        <p:blipFill>
          <a:blip r:embed="rId2"/>
          <a:stretch>
            <a:fillRect/>
          </a:stretch>
        </p:blipFill>
        <p:spPr>
          <a:xfrm>
            <a:off x="9516979" y="373737"/>
            <a:ext cx="2152822" cy="3241786"/>
          </a:xfrm>
          <a:prstGeom prst="rect">
            <a:avLst/>
          </a:prstGeom>
        </p:spPr>
      </p:pic>
      <p:pic>
        <p:nvPicPr>
          <p:cNvPr id="7" name="Bildobjekt 6">
            <a:extLst>
              <a:ext uri="{FF2B5EF4-FFF2-40B4-BE49-F238E27FC236}">
                <a16:creationId xmlns:a16="http://schemas.microsoft.com/office/drawing/2014/main" id="{8F423986-3FA7-55AE-72A3-F0D7003F74AC}"/>
              </a:ext>
            </a:extLst>
          </p:cNvPr>
          <p:cNvPicPr>
            <a:picLocks noChangeAspect="1"/>
          </p:cNvPicPr>
          <p:nvPr/>
        </p:nvPicPr>
        <p:blipFill>
          <a:blip r:embed="rId3"/>
          <a:stretch>
            <a:fillRect/>
          </a:stretch>
        </p:blipFill>
        <p:spPr>
          <a:xfrm>
            <a:off x="8659906" y="4249983"/>
            <a:ext cx="3011116" cy="842590"/>
          </a:xfrm>
          <a:prstGeom prst="rect">
            <a:avLst/>
          </a:prstGeom>
        </p:spPr>
      </p:pic>
    </p:spTree>
    <p:extLst>
      <p:ext uri="{BB962C8B-B14F-4D97-AF65-F5344CB8AC3E}">
        <p14:creationId xmlns:p14="http://schemas.microsoft.com/office/powerpoint/2010/main" val="339483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ABDA8C11-8E30-3072-73AA-0103A689949C}"/>
              </a:ext>
            </a:extLst>
          </p:cNvPr>
          <p:cNvSpPr>
            <a:spLocks noGrp="1"/>
          </p:cNvSpPr>
          <p:nvPr>
            <p:ph idx="1"/>
          </p:nvPr>
        </p:nvSpPr>
        <p:spPr>
          <a:xfrm>
            <a:off x="520246" y="1574802"/>
            <a:ext cx="10990263" cy="4453808"/>
          </a:xfrm>
        </p:spPr>
        <p:txBody>
          <a:bodyPr/>
          <a:lstStyle/>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PROJEKT 3</a:t>
            </a:r>
            <a:r>
              <a:rPr lang="sv-SE" sz="2000" dirty="0">
                <a:effectLst/>
                <a:latin typeface="Aptos" panose="020B0004020202020204" pitchFamily="34" charset="0"/>
                <a:ea typeface="Aptos" panose="020B0004020202020204" pitchFamily="34" charset="0"/>
                <a:cs typeface="Aptos" panose="020B0004020202020204" pitchFamily="34" charset="0"/>
              </a:rPr>
              <a:t>: Försäkring för entreprenadmaskiner</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Kontext</a:t>
            </a:r>
            <a:r>
              <a:rPr lang="sv-SE" sz="2000" dirty="0">
                <a:effectLst/>
                <a:latin typeface="Aptos" panose="020B0004020202020204" pitchFamily="34" charset="0"/>
                <a:ea typeface="Aptos" panose="020B0004020202020204" pitchFamily="34" charset="0"/>
                <a:cs typeface="Aptos" panose="020B0004020202020204" pitchFamily="34" charset="0"/>
              </a:rPr>
              <a:t>: Dataanalys i försäkringsbranschen</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Syfte</a:t>
            </a:r>
            <a:r>
              <a:rPr lang="sv-SE" sz="2000" dirty="0">
                <a:effectLst/>
                <a:latin typeface="Aptos" panose="020B0004020202020204" pitchFamily="34" charset="0"/>
                <a:ea typeface="Aptos" panose="020B0004020202020204" pitchFamily="34" charset="0"/>
                <a:cs typeface="Aptos" panose="020B0004020202020204" pitchFamily="34" charset="0"/>
              </a:rPr>
              <a:t>: Att förutsäga skadeanmälningar som bas </a:t>
            </a:r>
            <a:br>
              <a:rPr lang="sv-SE" sz="2000" dirty="0">
                <a:effectLst/>
                <a:latin typeface="Aptos" panose="020B0004020202020204" pitchFamily="34" charset="0"/>
                <a:ea typeface="Aptos" panose="020B0004020202020204" pitchFamily="34" charset="0"/>
                <a:cs typeface="Aptos" panose="020B0004020202020204" pitchFamily="34" charset="0"/>
              </a:rPr>
            </a:br>
            <a:r>
              <a:rPr lang="sv-SE" sz="2000" dirty="0">
                <a:effectLst/>
                <a:latin typeface="Aptos" panose="020B0004020202020204" pitchFamily="34" charset="0"/>
                <a:ea typeface="Aptos" panose="020B0004020202020204" pitchFamily="34" charset="0"/>
                <a:cs typeface="Aptos" panose="020B0004020202020204" pitchFamily="34" charset="0"/>
              </a:rPr>
              <a:t>för prissättning av försäkringsprodukt</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Handledare</a:t>
            </a:r>
            <a:r>
              <a:rPr lang="sv-SE" sz="2000" dirty="0">
                <a:effectLst/>
                <a:latin typeface="Aptos" panose="020B0004020202020204" pitchFamily="34" charset="0"/>
                <a:ea typeface="Aptos" panose="020B0004020202020204" pitchFamily="34" charset="0"/>
                <a:cs typeface="Aptos" panose="020B0004020202020204" pitchFamily="34" charset="0"/>
              </a:rPr>
              <a:t>: </a:t>
            </a:r>
            <a:r>
              <a:rPr lang="sv-SE" sz="2000" i="1" dirty="0">
                <a:effectLst/>
                <a:latin typeface="Aptos" panose="020B0004020202020204" pitchFamily="34" charset="0"/>
                <a:ea typeface="Aptos" panose="020B0004020202020204" pitchFamily="34" charset="0"/>
                <a:cs typeface="Aptos" panose="020B0004020202020204" pitchFamily="34" charset="0"/>
              </a:rPr>
              <a:t>Anders Broström</a:t>
            </a:r>
            <a:r>
              <a:rPr lang="sv-SE" sz="2000" dirty="0">
                <a:effectLst/>
                <a:latin typeface="Aptos" panose="020B0004020202020204" pitchFamily="34" charset="0"/>
                <a:ea typeface="Aptos" panose="020B0004020202020204" pitchFamily="34" charset="0"/>
                <a:cs typeface="Aptos" panose="020B0004020202020204" pitchFamily="34" charset="0"/>
              </a:rPr>
              <a:t>, med medverkan från </a:t>
            </a:r>
            <a:r>
              <a:rPr lang="sv-SE" sz="2000" i="1" dirty="0">
                <a:effectLst/>
                <a:latin typeface="Aptos" panose="020B0004020202020204" pitchFamily="34" charset="0"/>
                <a:ea typeface="Aptos" panose="020B0004020202020204" pitchFamily="34" charset="0"/>
                <a:cs typeface="Aptos" panose="020B0004020202020204" pitchFamily="34" charset="0"/>
              </a:rPr>
              <a:t>Länsförsäkringar</a:t>
            </a:r>
            <a:endParaRPr lang="sv-SE" i="1" dirty="0">
              <a:latin typeface="Aptos" panose="020B0004020202020204" pitchFamily="34" charset="0"/>
              <a:ea typeface="Aptos" panose="020B0004020202020204" pitchFamily="34" charset="0"/>
              <a:cs typeface="Aptos" panose="020B0004020202020204" pitchFamily="34" charset="0"/>
            </a:endParaRPr>
          </a:p>
          <a:p>
            <a:pPr>
              <a:buNone/>
            </a:pPr>
            <a:r>
              <a:rPr lang="sv-SE" sz="2000" dirty="0">
                <a:effectLst/>
                <a:latin typeface="Aptos" panose="020B0004020202020204" pitchFamily="34" charset="0"/>
                <a:ea typeface="Aptos" panose="020B0004020202020204" pitchFamily="34" charset="0"/>
                <a:cs typeface="Aptos" panose="020B0004020202020204" pitchFamily="34" charset="0"/>
              </a:rPr>
              <a:t>Koppling till ämnen / kurser: </a:t>
            </a:r>
            <a:r>
              <a:rPr lang="sv-SE" dirty="0">
                <a:latin typeface="Aptos" panose="020B0004020202020204" pitchFamily="34" charset="0"/>
                <a:ea typeface="Aptos" panose="020B0004020202020204" pitchFamily="34" charset="0"/>
                <a:cs typeface="Aptos" panose="020B0004020202020204" pitchFamily="34" charset="0"/>
              </a:rPr>
              <a:t>Finansiell matematik</a:t>
            </a:r>
            <a:endParaRPr lang="sv-SE" sz="2000" dirty="0">
              <a:effectLst/>
              <a:latin typeface="Aptos" panose="020B0004020202020204" pitchFamily="34" charset="0"/>
              <a:ea typeface="Aptos" panose="020B0004020202020204" pitchFamily="34" charset="0"/>
              <a:cs typeface="Aptos" panose="020B0004020202020204" pitchFamily="34" charset="0"/>
            </a:endParaRPr>
          </a:p>
          <a:p>
            <a:pPr>
              <a:buNone/>
            </a:pPr>
            <a:r>
              <a:rPr lang="sv-SE" sz="2000" dirty="0">
                <a:effectLst/>
                <a:latin typeface="Aptos" panose="020B0004020202020204" pitchFamily="34" charset="0"/>
                <a:ea typeface="Aptos" panose="020B0004020202020204" pitchFamily="34" charset="0"/>
                <a:cs typeface="Aptos" panose="020B0004020202020204" pitchFamily="34" charset="0"/>
              </a:rPr>
              <a:t> </a:t>
            </a:r>
          </a:p>
          <a:p>
            <a:pPr>
              <a:buNone/>
            </a:pPr>
            <a:r>
              <a:rPr lang="en-US" sz="2000" b="1" dirty="0">
                <a:effectLst/>
                <a:latin typeface="Aptos" panose="020B0004020202020204" pitchFamily="34" charset="0"/>
                <a:ea typeface="Aptos" panose="020B0004020202020204" pitchFamily="34" charset="0"/>
                <a:cs typeface="Aptos" panose="020B0004020202020204" pitchFamily="34" charset="0"/>
              </a:rPr>
              <a:t>PROJEKT 4</a:t>
            </a:r>
            <a:r>
              <a:rPr lang="en-US" sz="2000" dirty="0">
                <a:effectLst/>
                <a:latin typeface="Aptos" panose="020B0004020202020204" pitchFamily="34" charset="0"/>
                <a:ea typeface="Aptos" panose="020B0004020202020204" pitchFamily="34" charset="0"/>
                <a:cs typeface="Aptos" panose="020B0004020202020204" pitchFamily="34" charset="0"/>
              </a:rPr>
              <a:t>: Employer Attractiveness and Job Application Intentions</a:t>
            </a:r>
            <a:endParaRPr lang="sv-SE" sz="2000" dirty="0">
              <a:effectLst/>
              <a:latin typeface="Aptos" panose="020B0004020202020204" pitchFamily="34" charset="0"/>
              <a:ea typeface="Aptos" panose="020B0004020202020204" pitchFamily="34" charset="0"/>
              <a:cs typeface="Aptos" panose="020B0004020202020204" pitchFamily="34" charset="0"/>
            </a:endParaRP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Kontext</a:t>
            </a:r>
            <a:r>
              <a:rPr lang="sv-SE" sz="2000" dirty="0">
                <a:effectLst/>
                <a:latin typeface="Aptos" panose="020B0004020202020204" pitchFamily="34" charset="0"/>
                <a:ea typeface="Aptos" panose="020B0004020202020204" pitchFamily="34" charset="0"/>
                <a:cs typeface="Aptos" panose="020B0004020202020204" pitchFamily="34" charset="0"/>
              </a:rPr>
              <a:t>: Enkätdata insamlat från KTH-studenter</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Syfte:</a:t>
            </a:r>
            <a:r>
              <a:rPr lang="sv-SE" sz="2000" dirty="0">
                <a:effectLst/>
                <a:latin typeface="Aptos" panose="020B0004020202020204" pitchFamily="34" charset="0"/>
                <a:ea typeface="Aptos" panose="020B0004020202020204" pitchFamily="34" charset="0"/>
                <a:cs typeface="Aptos" panose="020B0004020202020204" pitchFamily="34" charset="0"/>
              </a:rPr>
              <a:t> Undersöka vilka faktorer som gör en arbetsgivare attraktiv </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Handledare: </a:t>
            </a:r>
            <a:r>
              <a:rPr lang="sv-SE" sz="2000" i="1" dirty="0">
                <a:effectLst/>
                <a:latin typeface="Aptos" panose="020B0004020202020204" pitchFamily="34" charset="0"/>
                <a:ea typeface="Aptos" panose="020B0004020202020204" pitchFamily="34" charset="0"/>
                <a:cs typeface="Aptos" panose="020B0004020202020204" pitchFamily="34" charset="0"/>
              </a:rPr>
              <a:t>Mana Farshid</a:t>
            </a:r>
            <a:r>
              <a:rPr lang="sv-SE" sz="2000" dirty="0">
                <a:effectLst/>
                <a:latin typeface="Aptos" panose="020B0004020202020204" pitchFamily="34" charset="0"/>
                <a:ea typeface="Aptos" panose="020B0004020202020204" pitchFamily="34" charset="0"/>
                <a:cs typeface="Aptos" panose="020B0004020202020204" pitchFamily="34" charset="0"/>
              </a:rPr>
              <a:t>. </a:t>
            </a:r>
            <a:r>
              <a:rPr lang="sv-SE" sz="2000" i="1" dirty="0">
                <a:effectLst/>
                <a:latin typeface="Aptos" panose="020B0004020202020204" pitchFamily="34" charset="0"/>
                <a:ea typeface="Aptos" panose="020B0004020202020204" pitchFamily="34" charset="0"/>
                <a:cs typeface="Aptos" panose="020B0004020202020204" pitchFamily="34" charset="0"/>
              </a:rPr>
              <a:t>Handledning sker i huvudsak på engelska</a:t>
            </a:r>
            <a:endParaRPr lang="sv-SE" sz="2000" dirty="0">
              <a:effectLst/>
              <a:latin typeface="Aptos" panose="020B0004020202020204" pitchFamily="34" charset="0"/>
              <a:ea typeface="Aptos" panose="020B0004020202020204" pitchFamily="34" charset="0"/>
              <a:cs typeface="Aptos" panose="020B0004020202020204" pitchFamily="34" charset="0"/>
            </a:endParaRPr>
          </a:p>
          <a:p>
            <a:pPr>
              <a:buNone/>
            </a:pPr>
            <a:r>
              <a:rPr lang="sv-SE" sz="2000" dirty="0">
                <a:effectLst/>
                <a:latin typeface="Aptos" panose="020B0004020202020204" pitchFamily="34" charset="0"/>
                <a:ea typeface="Aptos" panose="020B0004020202020204" pitchFamily="34" charset="0"/>
                <a:cs typeface="Aptos" panose="020B0004020202020204" pitchFamily="34" charset="0"/>
              </a:rPr>
              <a:t>Koppling till ämnen / kurser: Marknadsföring</a:t>
            </a:r>
          </a:p>
          <a:p>
            <a:pPr>
              <a:buNone/>
            </a:pPr>
            <a:r>
              <a:rPr lang="sv-SE" sz="2000" dirty="0">
                <a:effectLst/>
                <a:latin typeface="Aptos" panose="020B0004020202020204" pitchFamily="34" charset="0"/>
                <a:ea typeface="Aptos" panose="020B0004020202020204" pitchFamily="34" charset="0"/>
                <a:cs typeface="Aptos" panose="020B0004020202020204" pitchFamily="34" charset="0"/>
              </a:rPr>
              <a:t> </a:t>
            </a:r>
          </a:p>
          <a:p>
            <a:endParaRPr lang="sv-SE" dirty="0"/>
          </a:p>
        </p:txBody>
      </p:sp>
      <p:pic>
        <p:nvPicPr>
          <p:cNvPr id="5" name="Bildobjekt 4">
            <a:extLst>
              <a:ext uri="{FF2B5EF4-FFF2-40B4-BE49-F238E27FC236}">
                <a16:creationId xmlns:a16="http://schemas.microsoft.com/office/drawing/2014/main" id="{164CFDFD-A139-ABC7-EBCE-27212ED5B9D0}"/>
              </a:ext>
            </a:extLst>
          </p:cNvPr>
          <p:cNvPicPr>
            <a:picLocks noChangeAspect="1"/>
          </p:cNvPicPr>
          <p:nvPr/>
        </p:nvPicPr>
        <p:blipFill>
          <a:blip r:embed="rId2"/>
          <a:stretch>
            <a:fillRect/>
          </a:stretch>
        </p:blipFill>
        <p:spPr>
          <a:xfrm>
            <a:off x="6096000" y="1574802"/>
            <a:ext cx="5963269" cy="1074924"/>
          </a:xfrm>
          <a:prstGeom prst="rect">
            <a:avLst/>
          </a:prstGeom>
        </p:spPr>
      </p:pic>
      <p:pic>
        <p:nvPicPr>
          <p:cNvPr id="2050" name="Picture 2">
            <a:extLst>
              <a:ext uri="{FF2B5EF4-FFF2-40B4-BE49-F238E27FC236}">
                <a16:creationId xmlns:a16="http://schemas.microsoft.com/office/drawing/2014/main" id="{46C2156C-867E-B904-B303-727B0F2F2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7334" y="4589236"/>
            <a:ext cx="3038475"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024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AD0FEEA-A5D1-3084-1D85-73D6CD339785}"/>
              </a:ext>
            </a:extLst>
          </p:cNvPr>
          <p:cNvSpPr>
            <a:spLocks noGrp="1"/>
          </p:cNvSpPr>
          <p:nvPr>
            <p:ph type="title"/>
          </p:nvPr>
        </p:nvSpPr>
        <p:spPr/>
        <p:txBody>
          <a:bodyPr/>
          <a:lstStyle/>
          <a:p>
            <a:endParaRPr lang="sv-SE"/>
          </a:p>
        </p:txBody>
      </p:sp>
      <p:sp>
        <p:nvSpPr>
          <p:cNvPr id="3" name="Platshållare för innehåll 2">
            <a:extLst>
              <a:ext uri="{FF2B5EF4-FFF2-40B4-BE49-F238E27FC236}">
                <a16:creationId xmlns:a16="http://schemas.microsoft.com/office/drawing/2014/main" id="{AAA4ECB6-DC20-4222-0278-44C7EF16E0E5}"/>
              </a:ext>
            </a:extLst>
          </p:cNvPr>
          <p:cNvSpPr>
            <a:spLocks noGrp="1"/>
          </p:cNvSpPr>
          <p:nvPr>
            <p:ph idx="1"/>
          </p:nvPr>
        </p:nvSpPr>
        <p:spPr/>
        <p:txBody>
          <a:bodyPr/>
          <a:lstStyle/>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PROJEKT 5</a:t>
            </a:r>
            <a:r>
              <a:rPr lang="sv-SE" sz="2000" dirty="0">
                <a:effectLst/>
                <a:latin typeface="Aptos" panose="020B0004020202020204" pitchFamily="34" charset="0"/>
                <a:ea typeface="Aptos" panose="020B0004020202020204" pitchFamily="34" charset="0"/>
                <a:cs typeface="Aptos" panose="020B0004020202020204" pitchFamily="34" charset="0"/>
              </a:rPr>
              <a:t>: Patentaktivitet och innovationsmönster inom batteritekniksektorn</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Kontext:</a:t>
            </a:r>
            <a:r>
              <a:rPr lang="sv-SE" sz="2000" dirty="0">
                <a:effectLst/>
                <a:latin typeface="Aptos" panose="020B0004020202020204" pitchFamily="34" charset="0"/>
                <a:ea typeface="Aptos" panose="020B0004020202020204" pitchFamily="34" charset="0"/>
                <a:cs typeface="Aptos" panose="020B0004020202020204" pitchFamily="34" charset="0"/>
              </a:rPr>
              <a:t> Analys av internationell teknisk utveckling </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Syfte</a:t>
            </a:r>
            <a:r>
              <a:rPr lang="sv-SE" sz="2000" dirty="0">
                <a:effectLst/>
                <a:latin typeface="Aptos" panose="020B0004020202020204" pitchFamily="34" charset="0"/>
                <a:ea typeface="Aptos" panose="020B0004020202020204" pitchFamily="34" charset="0"/>
                <a:cs typeface="Aptos" panose="020B0004020202020204" pitchFamily="34" charset="0"/>
              </a:rPr>
              <a:t>: Att identifiera innovationsmönster (trender, patenteringsstrategier, identifiering)</a:t>
            </a:r>
          </a:p>
          <a:p>
            <a:pPr>
              <a:buNone/>
            </a:pPr>
            <a:r>
              <a:rPr lang="sv-SE" sz="2000" b="1" dirty="0">
                <a:effectLst/>
                <a:latin typeface="Aptos" panose="020B0004020202020204" pitchFamily="34" charset="0"/>
                <a:ea typeface="Aptos" panose="020B0004020202020204" pitchFamily="34" charset="0"/>
                <a:cs typeface="Aptos" panose="020B0004020202020204" pitchFamily="34" charset="0"/>
              </a:rPr>
              <a:t>Handledare</a:t>
            </a:r>
            <a:r>
              <a:rPr lang="sv-SE" sz="2000" dirty="0">
                <a:effectLst/>
                <a:latin typeface="Aptos" panose="020B0004020202020204" pitchFamily="34" charset="0"/>
                <a:ea typeface="Aptos" panose="020B0004020202020204" pitchFamily="34" charset="0"/>
                <a:cs typeface="Aptos" panose="020B0004020202020204" pitchFamily="34" charset="0"/>
              </a:rPr>
              <a:t>: </a:t>
            </a:r>
            <a:r>
              <a:rPr lang="sv-SE" sz="2000" i="1" dirty="0">
                <a:effectLst/>
                <a:latin typeface="Aptos" panose="020B0004020202020204" pitchFamily="34" charset="0"/>
                <a:ea typeface="Aptos" panose="020B0004020202020204" pitchFamily="34" charset="0"/>
                <a:cs typeface="Aptos" panose="020B0004020202020204" pitchFamily="34" charset="0"/>
              </a:rPr>
              <a:t>Vardan Hovsepyan</a:t>
            </a:r>
            <a:r>
              <a:rPr lang="sv-SE" sz="2000" dirty="0">
                <a:effectLst/>
                <a:latin typeface="Aptos" panose="020B0004020202020204" pitchFamily="34" charset="0"/>
                <a:ea typeface="Aptos" panose="020B0004020202020204" pitchFamily="34" charset="0"/>
                <a:cs typeface="Aptos" panose="020B0004020202020204" pitchFamily="34" charset="0"/>
              </a:rPr>
              <a:t>. </a:t>
            </a:r>
            <a:r>
              <a:rPr lang="sv-SE" sz="2000" i="1" dirty="0">
                <a:effectLst/>
                <a:latin typeface="Aptos" panose="020B0004020202020204" pitchFamily="34" charset="0"/>
                <a:ea typeface="Aptos" panose="020B0004020202020204" pitchFamily="34" charset="0"/>
                <a:cs typeface="Aptos" panose="020B0004020202020204" pitchFamily="34" charset="0"/>
              </a:rPr>
              <a:t>Handledning sker i huvudsak på engelska</a:t>
            </a:r>
            <a:endParaRPr lang="sv-SE" sz="2000" dirty="0">
              <a:effectLst/>
              <a:latin typeface="Aptos" panose="020B0004020202020204" pitchFamily="34" charset="0"/>
              <a:ea typeface="Aptos" panose="020B0004020202020204" pitchFamily="34" charset="0"/>
              <a:cs typeface="Aptos" panose="020B0004020202020204" pitchFamily="34" charset="0"/>
            </a:endParaRPr>
          </a:p>
          <a:p>
            <a:pPr marL="0" indent="0">
              <a:buNone/>
            </a:pPr>
            <a:r>
              <a:rPr lang="sv-SE" sz="2000" dirty="0">
                <a:effectLst/>
                <a:latin typeface="Aptos" panose="020B0004020202020204" pitchFamily="34" charset="0"/>
                <a:ea typeface="Aptos" panose="020B0004020202020204" pitchFamily="34" charset="0"/>
                <a:cs typeface="Aptos" panose="020B0004020202020204" pitchFamily="34" charset="0"/>
              </a:rPr>
              <a:t>Koppling till ämnen / kurser: Innovationsledning</a:t>
            </a:r>
          </a:p>
          <a:p>
            <a:endParaRPr lang="sv-SE" dirty="0"/>
          </a:p>
        </p:txBody>
      </p:sp>
      <p:pic>
        <p:nvPicPr>
          <p:cNvPr id="1026" name="Picture 2">
            <a:extLst>
              <a:ext uri="{FF2B5EF4-FFF2-40B4-BE49-F238E27FC236}">
                <a16:creationId xmlns:a16="http://schemas.microsoft.com/office/drawing/2014/main" id="{46A4A8D6-6791-1317-6117-418DF18E6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5053" y="3596137"/>
            <a:ext cx="22860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C81DE2F-D9D4-4AFB-60D7-2B6D0D8D71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6553" y="531848"/>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76B6843-AADF-E059-3FFA-14323449E1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947" y="4587649"/>
            <a:ext cx="3160200" cy="1660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11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E608106-89D1-8A88-FF61-EECB195DAE7E}"/>
              </a:ext>
            </a:extLst>
          </p:cNvPr>
          <p:cNvSpPr>
            <a:spLocks noGrp="1"/>
          </p:cNvSpPr>
          <p:nvPr>
            <p:ph type="title"/>
          </p:nvPr>
        </p:nvSpPr>
        <p:spPr/>
        <p:txBody>
          <a:bodyPr/>
          <a:lstStyle/>
          <a:p>
            <a:endParaRPr lang="sv-SE"/>
          </a:p>
        </p:txBody>
      </p:sp>
      <p:sp>
        <p:nvSpPr>
          <p:cNvPr id="3" name="Platshållare för innehåll 2">
            <a:extLst>
              <a:ext uri="{FF2B5EF4-FFF2-40B4-BE49-F238E27FC236}">
                <a16:creationId xmlns:a16="http://schemas.microsoft.com/office/drawing/2014/main" id="{20AF5622-0EDE-D788-5EF1-E3A12D7CB56C}"/>
              </a:ext>
            </a:extLst>
          </p:cNvPr>
          <p:cNvSpPr>
            <a:spLocks noGrp="1"/>
          </p:cNvSpPr>
          <p:nvPr>
            <p:ph idx="1"/>
          </p:nvPr>
        </p:nvSpPr>
        <p:spPr/>
        <p:txBody>
          <a:bodyPr/>
          <a:lstStyle/>
          <a:p>
            <a:pPr marL="0" indent="0">
              <a:buNone/>
            </a:pPr>
            <a:r>
              <a:rPr lang="sv-SE" dirty="0"/>
              <a:t>Information om former mm finns på kurssiten:</a:t>
            </a:r>
          </a:p>
          <a:p>
            <a:r>
              <a:rPr lang="sv-SE" dirty="0"/>
              <a:t>Betygssättning projektrapport		PM projektarbete</a:t>
            </a:r>
          </a:p>
          <a:p>
            <a:r>
              <a:rPr lang="sv-SE" dirty="0"/>
              <a:t>Mall för projektrapport</a:t>
            </a:r>
          </a:p>
          <a:p>
            <a:r>
              <a:rPr lang="sv-SE" dirty="0"/>
              <a:t>Betygssättning kursen			Kurs-PM</a:t>
            </a:r>
          </a:p>
          <a:p>
            <a:pPr marL="457200" lvl="1" indent="0">
              <a:buNone/>
            </a:pPr>
            <a:endParaRPr lang="sv-SE" dirty="0"/>
          </a:p>
          <a:p>
            <a:r>
              <a:rPr lang="sv-SE" dirty="0"/>
              <a:t>Programvara: valfritt. Inga krav på annat än Excel – men </a:t>
            </a:r>
            <a:r>
              <a:rPr lang="sv-SE" dirty="0" err="1"/>
              <a:t>Python</a:t>
            </a:r>
            <a:r>
              <a:rPr lang="sv-SE" dirty="0"/>
              <a:t> (t ex biblioteken Pandas, </a:t>
            </a:r>
            <a:r>
              <a:rPr lang="sv-SE" dirty="0" err="1"/>
              <a:t>SciKit-learn</a:t>
            </a:r>
            <a:r>
              <a:rPr lang="sv-SE" dirty="0"/>
              <a:t>, </a:t>
            </a:r>
            <a:r>
              <a:rPr lang="sv-SE" dirty="0" err="1"/>
              <a:t>NumPy</a:t>
            </a:r>
            <a:r>
              <a:rPr lang="sv-SE" dirty="0"/>
              <a:t>) eller R (</a:t>
            </a:r>
            <a:r>
              <a:rPr lang="sv-SE" dirty="0" err="1"/>
              <a:t>open</a:t>
            </a:r>
            <a:r>
              <a:rPr lang="sv-SE" dirty="0"/>
              <a:t> source) eller de kommersiella analysprogrammen SPSS Stata gör vissa sorters arbete lättare och bättre för den som kan tänka sig att sätta sig in något </a:t>
            </a:r>
            <a:r>
              <a:rPr lang="sv-SE"/>
              <a:t>av dessa.</a:t>
            </a:r>
            <a:br>
              <a:rPr lang="sv-SE" dirty="0"/>
            </a:br>
            <a:r>
              <a:rPr lang="sv-SE" dirty="0"/>
              <a:t>	</a:t>
            </a:r>
          </a:p>
          <a:p>
            <a:r>
              <a:rPr lang="sv-SE" dirty="0"/>
              <a:t>Använd gärna Diskussionsfunktionen på kurssiten för frågor till er projekthandledare</a:t>
            </a:r>
          </a:p>
          <a:p>
            <a:endParaRPr lang="sv-SE" dirty="0"/>
          </a:p>
        </p:txBody>
      </p:sp>
    </p:spTree>
    <p:extLst>
      <p:ext uri="{BB962C8B-B14F-4D97-AF65-F5344CB8AC3E}">
        <p14:creationId xmlns:p14="http://schemas.microsoft.com/office/powerpoint/2010/main" val="429261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075" y="1337173"/>
            <a:ext cx="10990263" cy="568412"/>
          </a:xfrm>
        </p:spPr>
        <p:txBody>
          <a:bodyPr/>
          <a:lstStyle/>
          <a:p>
            <a:r>
              <a:rPr lang="sv-SE" dirty="0"/>
              <a:t>Att göra</a:t>
            </a:r>
            <a:endParaRPr lang="en-US" dirty="0"/>
          </a:p>
        </p:txBody>
      </p:sp>
      <p:sp>
        <p:nvSpPr>
          <p:cNvPr id="3" name="Content Placeholder 2"/>
          <p:cNvSpPr>
            <a:spLocks noGrp="1"/>
          </p:cNvSpPr>
          <p:nvPr>
            <p:ph idx="1"/>
          </p:nvPr>
        </p:nvSpPr>
        <p:spPr>
          <a:xfrm>
            <a:off x="600075" y="2217404"/>
            <a:ext cx="10990263" cy="3113722"/>
          </a:xfrm>
        </p:spPr>
        <p:txBody>
          <a:bodyPr/>
          <a:lstStyle/>
          <a:p>
            <a:r>
              <a:rPr lang="sv-SE" dirty="0"/>
              <a:t>Formera projektgrupp (3-4 per grupp), anmäl grupper på Canvas</a:t>
            </a:r>
          </a:p>
          <a:p>
            <a:r>
              <a:rPr lang="sv-SE" dirty="0"/>
              <a:t>Anmäl gruppen till ett projekt (från och med </a:t>
            </a:r>
            <a:r>
              <a:rPr lang="sv-SE" dirty="0" err="1"/>
              <a:t>kl</a:t>
            </a:r>
            <a:r>
              <a:rPr lang="sv-SE" dirty="0"/>
              <a:t> 08.00 måndag 23/3)  -- 9 grupper per projekt</a:t>
            </a:r>
          </a:p>
          <a:p>
            <a:r>
              <a:rPr lang="sv-SE" dirty="0"/>
              <a:t>Sätt fart!</a:t>
            </a:r>
          </a:p>
        </p:txBody>
      </p:sp>
    </p:spTree>
    <p:extLst>
      <p:ext uri="{BB962C8B-B14F-4D97-AF65-F5344CB8AC3E}">
        <p14:creationId xmlns:p14="http://schemas.microsoft.com/office/powerpoint/2010/main" val="21461412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876</TotalTime>
  <Words>503</Words>
  <Application>Microsoft Office PowerPoint</Application>
  <PresentationFormat>Bredbild</PresentationFormat>
  <Paragraphs>55</Paragraphs>
  <Slides>8</Slides>
  <Notes>0</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8</vt:i4>
      </vt:variant>
    </vt:vector>
  </HeadingPairs>
  <TitlesOfParts>
    <vt:vector size="13" baseType="lpstr">
      <vt:lpstr>Arial</vt:lpstr>
      <vt:lpstr>Aptos</vt:lpstr>
      <vt:lpstr>Calibri</vt:lpstr>
      <vt:lpstr>Figtree</vt:lpstr>
      <vt:lpstr>Office-tema</vt:lpstr>
      <vt:lpstr>Intro projektarbete</vt:lpstr>
      <vt:lpstr>Lärandemål</vt:lpstr>
      <vt:lpstr>Examination</vt:lpstr>
      <vt:lpstr>PowerPoint-presentation</vt:lpstr>
      <vt:lpstr>PowerPoint-presentation</vt:lpstr>
      <vt:lpstr>PowerPoint-presentation</vt:lpstr>
      <vt:lpstr>PowerPoint-presentation</vt:lpstr>
      <vt:lpstr>Att göra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Från problem till  statistisk analys</dc:title>
  <dc:creator>Anders Broström</dc:creator>
  <cp:lastModifiedBy>Anders Broström</cp:lastModifiedBy>
  <cp:revision>4</cp:revision>
  <cp:lastPrinted>2025-02-10T09:11:00Z</cp:lastPrinted>
  <dcterms:created xsi:type="dcterms:W3CDTF">2024-02-11T19:35:57Z</dcterms:created>
  <dcterms:modified xsi:type="dcterms:W3CDTF">2026-03-20T13:49:49Z</dcterms:modified>
</cp:coreProperties>
</file>